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6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F6B6D"/>
                </a:solidFill>
                <a:latin typeface="Arial"/>
              </a:rPr>
              <a:t>Vehicles produced in 2025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production (m)</c:v>
                </c:pt>
              </c:strCache>
            </c:strRef>
          </c:tx>
          <c:spPr>
            <a:solidFill>
              <a:srgbClr val="0B55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France</c:v>
                  </c:pt>
                  <c:pt idx="1">
                    <c:v>Spain</c:v>
                  </c:pt>
                  <c:pt idx="2">
                    <c:v>Brazil</c:v>
                  </c:pt>
                  <c:pt idx="3">
                    <c:v>Mexico</c:v>
                  </c:pt>
                  <c:pt idx="4">
                    <c:v>South Korea</c:v>
                  </c:pt>
                  <c:pt idx="5">
                    <c:v>Germany</c:v>
                  </c:pt>
                  <c:pt idx="6">
                    <c:v>India</c:v>
                  </c:pt>
                  <c:pt idx="7">
                    <c:v>Japan</c:v>
                  </c:pt>
                  <c:pt idx="8">
                    <c:v>United States</c:v>
                  </c:pt>
                  <c:pt idx="9">
                    <c:v>China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1.46</c:v>
                </c:pt>
                <c:pt idx="1">
                  <c:v>2.27</c:v>
                </c:pt>
                <c:pt idx="2">
                  <c:v>2.64</c:v>
                </c:pt>
                <c:pt idx="3">
                  <c:v>4.09</c:v>
                </c:pt>
                <c:pt idx="4">
                  <c:v>4.1</c:v>
                </c:pt>
                <c:pt idx="5">
                  <c:v>4.15</c:v>
                </c:pt>
                <c:pt idx="6">
                  <c:v>6.49</c:v>
                </c:pt>
                <c:pt idx="7">
                  <c:v>8.41</c:v>
                </c:pt>
                <c:pt idx="8">
                  <c:v>10.24</c:v>
                </c:pt>
                <c:pt idx="9">
                  <c:v>34.53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E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Grew</c:v>
                </c:pt>
              </c:strCache>
            </c:strRef>
          </c:tx>
          <c:spPr>
            <a:solidFill>
              <a:srgbClr val="0B5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China
+10.4%</c:v>
                  </c:pt>
                  <c:pt idx="1">
                    <c:v>United States
-3.0%</c:v>
                  </c:pt>
                  <c:pt idx="2">
                    <c:v>Japan
+2.1%</c:v>
                  </c:pt>
                  <c:pt idx="3">
                    <c:v>India
+7.9%</c:v>
                  </c:pt>
                  <c:pt idx="4">
                    <c:v>Germany
+2.0%</c:v>
                  </c:pt>
                  <c:pt idx="5">
                    <c:v>South Korea
-0.6%</c:v>
                  </c:pt>
                  <c:pt idx="6">
                    <c:v>Mexico
-2.6%</c:v>
                  </c:pt>
                  <c:pt idx="7">
                    <c:v>Brazil
+3.7%</c:v>
                  </c:pt>
                  <c:pt idx="8">
                    <c:v>Spain
-4.3%</c:v>
                  </c:pt>
                  <c:pt idx="9">
                    <c:v>France
+7.8%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10.4</c:v>
                </c:pt>
                <c:pt idx="1">
                  <c:v>0</c:v>
                </c:pt>
                <c:pt idx="2">
                  <c:v>2.1</c:v>
                </c:pt>
                <c:pt idx="3">
                  <c:v>7.9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3.7</c:v>
                </c:pt>
                <c:pt idx="8">
                  <c:v>0</c:v>
                </c:pt>
                <c:pt idx="9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Shrank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China
+10.4%</c:v>
                  </c:pt>
                  <c:pt idx="1">
                    <c:v>United States
-3.0%</c:v>
                  </c:pt>
                  <c:pt idx="2">
                    <c:v>Japan
+2.1%</c:v>
                  </c:pt>
                  <c:pt idx="3">
                    <c:v>India
+7.9%</c:v>
                  </c:pt>
                  <c:pt idx="4">
                    <c:v>Germany
+2.0%</c:v>
                  </c:pt>
                  <c:pt idx="5">
                    <c:v>South Korea
-0.6%</c:v>
                  </c:pt>
                  <c:pt idx="6">
                    <c:v>Mexico
-2.6%</c:v>
                  </c:pt>
                  <c:pt idx="7">
                    <c:v>Brazil
+3.7%</c:v>
                  </c:pt>
                  <c:pt idx="8">
                    <c:v>Spain
-4.3%</c:v>
                  </c:pt>
                  <c:pt idx="9">
                    <c:v>France
+7.8%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-3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-0.6</c:v>
                </c:pt>
                <c:pt idx="6">
                  <c:v>-2.6</c:v>
                </c:pt>
                <c:pt idx="7">
                  <c:v>0</c:v>
                </c:pt>
                <c:pt idx="8">
                  <c:v>-4.3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6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F6B6D"/>
                </a:solidFill>
                <a:latin typeface="Arial"/>
              </a:rPr>
              <a:t>Share of connected cars with 5G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fees ($ bn)</c:v>
                </c:pt>
              </c:strCache>
            </c:strRef>
          </c:tx>
          <c:spPr>
            <a:solidFill>
              <a:srgbClr val="5FB3BF"/>
            </a:solidFill>
            <a:effectLst/>
          </c:spPr>
          <c:invertIfNegative val="0"/>
          <c:dLbls>
            <c:numFmt formatCode="&quot;$&quot;0.00&quot; bn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B3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B3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B3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B3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10% (today)</c:v>
                  </c:pt>
                  <c:pt idx="1">
                    <c:v>25%</c:v>
                  </c:pt>
                  <c:pt idx="2">
                    <c:v>50%</c:v>
                  </c:pt>
                  <c:pt idx="3">
                    <c:v>75%</c:v>
                  </c:pt>
                  <c:pt idx="4">
                    <c:v>100%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1.53</c:v>
                </c:pt>
                <c:pt idx="1">
                  <c:v>1.66</c:v>
                </c:pt>
                <c:pt idx="2">
                  <c:v>1.88</c:v>
                </c:pt>
                <c:pt idx="3">
                  <c:v>2.1</c:v>
                </c:pt>
                <c:pt idx="4">
                  <c:v>2.31</c:v>
                </c:pt>
              </c:numCache>
            </c:numRef>
          </c:val>
        </c:ser>
        <c:dLbls>
          <c:numFmt formatCode="&quot;$&quot;0.00&quot; bn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E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389120" cy="4389120"/>
          </a:xfrm>
          <a:prstGeom prst="ellipse">
            <a:avLst/>
          </a:prstGeom>
          <a:solidFill>
            <a:srgbClr val="0B55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651760"/>
            <a:ext cx="2377440" cy="2377440"/>
          </a:xfrm>
          <a:prstGeom prst="ellipse">
            <a:avLst/>
          </a:prstGeom>
          <a:solidFill>
            <a:srgbClr val="E07A5F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Cars, 5G and Patent Fees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makes the world's cars, and what could carmakers pay for 4G/5G patents?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market snapshot in Excel  |  Tanvir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 are becoming connected devices, and each one carries a patent fee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new cars now have a built-in mobile connection (4G or 5G) for maps, safety calls and software updates.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technology is protected by patents owned by telecom companies such as Nokia.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Carmakers can license these patents through a patent pool (Avanci), which publishes a fixed fee per car.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question: how many cars are made, where, and how big could these fees be?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23444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 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produced worldwide in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233172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cars have a built-in mobile connection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34290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 → $32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fee per car: 4G vs. 5G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OICA production statistics 2024-2025; Counterpoint Research; Avanci public licence prices. Illustrative estimate.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countries make 81% of the world's cars, and China alone makes 36%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28016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E6F2F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0" y="14173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production comes from these 10 countries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makes 3.4 times as many cars as the US, the no. 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OICA production statistics, 2025. Calculated in Excel (Analysis sheet).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grew 10% in 2025, while 4 of the top 10, including the US, made fewer cars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8412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= (2025 - 2024) / 2024. World production grew 4.2%; the top 10 grew 4.8%. Source: OICA.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public pool prices, carmakers would pay about $1.5 billion a year in 4G/5G patent fees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600200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 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6888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made in 2025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0040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OICA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15768" y="1600200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 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246888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connected (75%)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15768" y="320040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Counterpoint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4608" y="1600200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65.1 m 4G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m 5G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46888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10% have 5G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20040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assumption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90372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rgbClr val="0B55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1600200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$1.53 bn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246888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 m × $20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+ 7.2 m × $32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320040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Avanci prices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illustrative estimate using public patent-pool prices, not any company's actual licence deals.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OICA production statistics 2024-2025; Counterpoint Research; Avanci public licence prices. Illustrative estimate.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every connected car had 5G, patent fees would rise by about 50% to $2.3 billion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6F2F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grows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5G car pays $32 instead of $20, which is 60% more per car.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fees can grow even if car sales stay flat.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4G to 5G is the main growth driver for patent owners.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cars as 2025 (96.4 m, 75% connected); only the 5G share changes. Calculated in Excel (Royalty_Estimate sheet).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70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production is concentrated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 make 81% of cars; China alone makes 36% and is still growing fast.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fees are already a $1.5 bn market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31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at public pool prices, with most cars still on 4G.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07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is the growth driver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00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every connected car to 5G would lift fees by about 50%.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188720"/>
            <a:ext cx="2926080" cy="1874520"/>
          </a:xfrm>
          <a:prstGeom prst="roundRect">
            <a:avLst>
              <a:gd name="adj" fmla="val 5854"/>
            </a:avLst>
          </a:prstGeom>
          <a:solidFill>
            <a:srgbClr val="0B5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1298448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used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SUM, AVERAGE, MIN/MAX, RANK, COUNTIF, INDEX/MATCH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and charts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what-if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storytelling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compare individual carmakers to see which are growing fastest in Europe.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OICA production statistics 2024-2025; Counterpoint Research; Avanci public licence prices. Illustrative estimate.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Cars, 5G and Patent Fees</dc:title>
  <dc:subject>PptxGenJS Presentation</dc:subject>
  <dc:creator>PptxGenJS</dc:creator>
  <cp:lastModifiedBy>PptxGenJS</cp:lastModifiedBy>
  <cp:revision>1</cp:revision>
  <dcterms:created xsi:type="dcterms:W3CDTF">2026-10-01T20:14:56Z</dcterms:created>
  <dcterms:modified xsi:type="dcterms:W3CDTF">2026-10-01T20:14:56Z</dcterms:modified>
</cp:coreProperties>
</file>